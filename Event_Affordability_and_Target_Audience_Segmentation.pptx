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33D8C-F8DE-8916-DA11-5E1B14EE7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639333-6399-879A-3091-2782B8F646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D2B1B-A64D-57D3-174E-C61CE5960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3FB4-6CF0-498C-8510-A58DB60631AD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385BD-AA5D-4ECA-3AC6-5ACE67991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A2BFB-FA10-E1EA-895C-A8155E3E8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71C8E-98BE-41EF-961B-784F51A2D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903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89DC1-DE0A-075C-270E-08727A905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DAA60-6F25-5D4D-A4BE-5563CD8E8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947B1-36AB-66A2-F06C-7751A7367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3FB4-6CF0-498C-8510-A58DB60631AD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761C5-4E4C-4496-461C-03D9F561F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0739B-AB27-1EFB-BCB6-23E544660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71C8E-98BE-41EF-961B-784F51A2D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911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82BD7-8D42-3DE5-9B1F-BB7C1D3FD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8FB89-8BB0-55D5-5CC7-D67E1EEF9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EFB09-862C-6641-680F-68EAB98DC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3FB4-6CF0-498C-8510-A58DB60631AD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44E88-F660-2A05-E075-90261715B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722F0-DE6E-E3A9-6CFB-F06F0AF3B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71C8E-98BE-41EF-961B-784F51A2D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378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AD9B7-9E0F-A8E8-8EF3-3ABCE00A6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FF31D-EC8A-1F39-5A11-FA5A9055A2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B57D48-4AF4-A186-EE32-369F31C1DA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B8A0FA-DCC3-39EA-2BDD-9FD1AA060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3FB4-6CF0-498C-8510-A58DB60631AD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CD74D8-0A73-12AC-49A4-AC7D4C4A2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1E4FB3-F15A-4184-5B47-FEB2562F4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71C8E-98BE-41EF-961B-784F51A2D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598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86976-BB19-E327-6168-32BA83AC3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F566A5-4705-EEF9-43F6-87C6D962C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A6553F-6556-6EA1-482B-8E70F0A8A5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9ED093-EB66-7A96-C400-79486549ED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0D3B4E-A3D4-0AE7-7163-19A2907F84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3657B6-66BD-F4AD-FCEC-174118026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3FB4-6CF0-498C-8510-A58DB60631AD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74312F-1FE9-C9A8-1BAC-4DA75C0C0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C70C44-A65D-F592-D921-F57C8D619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71C8E-98BE-41EF-961B-784F51A2D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44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58FD3-3B8F-991A-56E2-F01D2CE8D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8CEEF3-BC8B-6A33-325A-A63C80442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3FB4-6CF0-498C-8510-A58DB60631AD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D9FF9B-E3A4-5950-7FBA-8516CC4C3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800E7-DD73-3899-FBD5-6369AC456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71C8E-98BE-41EF-961B-784F51A2D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322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BBE4DF-8007-C14C-51F4-18B9126ED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3FB4-6CF0-498C-8510-A58DB60631AD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A2FF02-9EA2-998A-F470-73788B110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050E8-176A-19EF-99AE-9F91E349E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71C8E-98BE-41EF-961B-784F51A2D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034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1518C-619C-C48C-B592-D5CB86159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B69DD-C3A1-330F-E2E3-58625A814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9FD0F0-06F5-3452-02C2-E91158E13F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A6B7A5-40D3-DCFF-CA1A-AF68D9CF1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3FB4-6CF0-498C-8510-A58DB60631AD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712D55-27FC-8286-E672-58B3E09C1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7B347C-3476-4293-2D4D-53A18B8C0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71C8E-98BE-41EF-961B-784F51A2D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890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EC201-8717-0C85-AC35-A6862E234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853A6C-0B25-129F-4920-23A2B58AD0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532DF-FAD1-1BDB-5667-5ED407AC2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9D91B2-80D1-BF3C-DCDD-75C7D35D9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3FB4-6CF0-498C-8510-A58DB60631AD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9ED8B-B742-F972-D8D3-11E973BA8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69697-92E7-F522-FBE2-5B4FDF7CA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71C8E-98BE-41EF-961B-784F51A2D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945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FC96F-CBC7-E203-88DA-1B4F7A2F8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B5EDE2-E3C8-D937-BC3C-3249A0C631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71A78-8225-DBDF-02B8-25C0A312F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3FB4-6CF0-498C-8510-A58DB60631AD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B7A26-A8A2-737F-9996-1084B91B6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52D8B-754B-4E6C-672B-B8E232AAC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71C8E-98BE-41EF-961B-784F51A2D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482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7D6B5C-24E6-88AA-1A6B-CFDD0219B0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2E85C2-A6F8-474C-0DE8-1551E6999E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2E124-10E2-298C-F40B-FC80EDF6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D3FB4-6CF0-498C-8510-A58DB60631AD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6B036-D52F-78DE-DE8D-073E24975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450B3-DB43-A82E-437F-D47757FFA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71C8E-98BE-41EF-961B-784F51A2D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525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3984D0-52BF-110E-C21A-75D365472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5F53B-6A24-9B51-59BF-CD85D18FBB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2A57D-811A-CC9C-6673-9EEE1D514A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D3FB4-6CF0-498C-8510-A58DB60631AD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48436-376D-4BB8-6481-91E81D41BD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D2524-E165-9531-2A7C-73ADCA9CDC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71C8E-98BE-41EF-961B-784F51A2D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946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5BB582-B64C-A3F3-327B-3BA5D11ACD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76" t="17949" r="6409" b="6347"/>
          <a:stretch>
            <a:fillRect/>
          </a:stretch>
        </p:blipFill>
        <p:spPr>
          <a:xfrm>
            <a:off x="2369199" y="2541516"/>
            <a:ext cx="8501964" cy="4071026"/>
          </a:xfrm>
          <a:prstGeom prst="rect">
            <a:avLst/>
          </a:prstGeom>
        </p:spPr>
      </p:pic>
      <p:pic>
        <p:nvPicPr>
          <p:cNvPr id="2053" name="Picture 1">
            <a:extLst>
              <a:ext uri="{FF2B5EF4-FFF2-40B4-BE49-F238E27FC236}">
                <a16:creationId xmlns:a16="http://schemas.microsoft.com/office/drawing/2014/main" id="{7204C633-176F-3C67-8826-CADF36961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848" y="100202"/>
            <a:ext cx="2227448" cy="1721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6">
            <a:extLst>
              <a:ext uri="{FF2B5EF4-FFF2-40B4-BE49-F238E27FC236}">
                <a16:creationId xmlns:a16="http://schemas.microsoft.com/office/drawing/2014/main" id="{951AD46E-5688-F95D-8E97-395D2E7C8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153" y="514139"/>
            <a:ext cx="7027693" cy="1031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sng" strike="noStrike" cap="none" normalizeH="0" baseline="0" dirty="0">
                <a:ln>
                  <a:noFill/>
                </a:ln>
                <a:solidFill>
                  <a:srgbClr val="EE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WEBPOISE INTERNSHIP PROJECT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7672AE38-34DB-7BC8-9815-523EA90DA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7695" y="960868"/>
            <a:ext cx="2141548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REPORT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1E616FC6-14FE-2FDC-BD3D-3C1DC7901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1994" y="1821535"/>
            <a:ext cx="969637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Title :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Event Affordability and Target Audience Segmentation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4545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D2038C-5556-DF47-7EAC-A2821C166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8102" y="879218"/>
            <a:ext cx="6275504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Executive Summary &amp; 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BA282B24-8CDD-D9B1-11EE-7EE1A1FB2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72" y="169650"/>
            <a:ext cx="2266805" cy="1751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7B728D08-BA7C-05F3-6319-4114D87F39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972" y="1921397"/>
            <a:ext cx="6702268" cy="3268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analyze how ticket prices and personal income affect event attendance.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Used a synthetic dataset of 1,000 samples to model real-world demographic and economic behaviors.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Outcome: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Identified distinct customer segments using K-Means clustering and developed predictive models for attendance.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E82CA98-D602-9C54-82E9-97C2FDA249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90" t="13445" r="39854" b="15076"/>
          <a:stretch>
            <a:fillRect/>
          </a:stretch>
        </p:blipFill>
        <p:spPr>
          <a:xfrm>
            <a:off x="7254239" y="2023353"/>
            <a:ext cx="4088211" cy="18635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421B64A-4069-5D77-3143-2A42F88DB3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637"/>
          <a:stretch>
            <a:fillRect/>
          </a:stretch>
        </p:blipFill>
        <p:spPr>
          <a:xfrm>
            <a:off x="8198264" y="3658662"/>
            <a:ext cx="2063326" cy="1966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723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82E6D-7C13-C25C-1058-9054AD097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2C453B-3221-25C5-D4AC-F24A0501D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8102" y="879218"/>
            <a:ext cx="6609830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kumimoji="0" lang="en-US" altLang="en-US" sz="3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5D74E795-3E7E-9B01-E59A-76A085537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72" y="169650"/>
            <a:ext cx="2266805" cy="1751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EC961E34-EF25-EF13-BFB1-8D734FDC3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" y="1921397"/>
            <a:ext cx="5305466" cy="3268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Understanding the "Affordability Ratio" (Income vs. Ticket Price) and its impact on consumer decision-making.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 Goal: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How can we better target different age groups and genders for specific event types (Concerts, Sports, Festivals, etc.)?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00E1387-9414-A49F-D926-43E5ED243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7410" y="2109138"/>
            <a:ext cx="5837415" cy="2893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341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71651-3438-0C16-4C9E-20A3790A1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9D303D-0CF1-62ED-64ED-536557CEE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8102" y="879218"/>
            <a:ext cx="6275504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 Overview &amp; Exploration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DB25FE6A-6E32-3E74-3F3F-22A873AC9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72" y="169650"/>
            <a:ext cx="2266805" cy="1751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5E2367AE-7D8F-872B-2573-998FAB5C8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920" y="1771845"/>
            <a:ext cx="7843951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Composition: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1,000 unique records including Age, Gender, Income, Event Type, and Ticket Price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Demographic Breakdown: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Gender: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Near equal split (Female: 494, Male: 465).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Event Popularity: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Sports (26.5%) and Concerts (22.2%) lead in popularity.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Financials: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Average income is ~$44.8k, with ticket prices averaging ~$108.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B48052-93E9-8A47-18AA-D8B4BC523D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6616"/>
          <a:stretch>
            <a:fillRect/>
          </a:stretch>
        </p:blipFill>
        <p:spPr>
          <a:xfrm>
            <a:off x="8353502" y="1343828"/>
            <a:ext cx="2767749" cy="27352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4688BEB-42AC-85E8-BA47-D02CD74D0F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368"/>
          <a:stretch>
            <a:fillRect/>
          </a:stretch>
        </p:blipFill>
        <p:spPr>
          <a:xfrm>
            <a:off x="8353502" y="3798434"/>
            <a:ext cx="3242722" cy="241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671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AE95C-B9C0-878F-9513-41E123672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6B4F30-74FC-71AA-518C-5B57B2CCC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8102" y="879218"/>
            <a:ext cx="8205166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– The Data Science Process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DDAF8EAA-8DF2-32E7-29C7-C2B02034D5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72" y="169650"/>
            <a:ext cx="2266805" cy="1751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DF94A28C-FBA1-8F3D-5E12-6B09F1E26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968" y="1921397"/>
            <a:ext cx="11589227" cy="280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Approach: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Generation: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Simulating realistic distributions (Log-normal for income).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Identifying correlations between age and event preference.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Feature scaling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and label encoding.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Clustering for segmentation and Classification for attendance prediction.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8450AE-B2EF-4EF9-8079-7F0DC7A473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648" r="11021" b="18690"/>
          <a:stretch>
            <a:fillRect/>
          </a:stretch>
        </p:blipFill>
        <p:spPr>
          <a:xfrm>
            <a:off x="190968" y="4328809"/>
            <a:ext cx="10069829" cy="235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963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CBA96-277E-B6F9-0C22-DF029A79C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9600EB-24E8-5B29-0C0A-7F23D9830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8102" y="879218"/>
            <a:ext cx="8263532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Key Insight – Age vs. Event Preference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FFD7F25C-54BD-B0A1-ADEB-AE5BCFCC2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72" y="169650"/>
            <a:ext cx="2266805" cy="1751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5E8420E7-7EF7-85D5-1EA0-4D982CF3C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972" y="1921397"/>
            <a:ext cx="6274266" cy="3268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Finding:Younger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Audience (&lt;30):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preference for Concerts and Festivals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Older Audience (&gt;45):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Pivot toward Seminars and Exhibitions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 Action: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Allocate marketing budget to social media for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"Concert"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ads and professional networks (LinkedIn) for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"Seminars."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1C4FBD-0CAE-7D95-F34C-459E04D71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752" y="1365792"/>
            <a:ext cx="5056762" cy="505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498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3F2B4-E692-3A80-131A-84F71E2DF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DB536A-30EB-54AF-8E9D-4CC852DC9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8101" y="879218"/>
            <a:ext cx="7621507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Audience Segmentation (Clustering)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19EA2FFD-DB90-7430-D9D9-0F7964465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72" y="169650"/>
            <a:ext cx="2266805" cy="1751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43F6192B-BDC3-C8E9-4D3E-D1406BE2D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886" y="1735203"/>
            <a:ext cx="5500429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K-Means Clustering.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Defined Clusters: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(Include your cluster plot here).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High-Value Attendees: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High income, high attendance, premium price tolerance.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Budget-Conscious: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Lower income, highly sensitive to ticket price fluctuations.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Strategic Use: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Create "Early Bird“  pricing for budget clusters to secure early volume.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DEEBDE-0DC5-201B-05BB-3A92F52BB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791" y="1876877"/>
            <a:ext cx="5861119" cy="390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911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2DDCE-0FE2-5897-EA5F-9F3349662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3EBE18-7B8E-98FE-D641-EC4F3B551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8101" y="879218"/>
            <a:ext cx="7175531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Modeling (Attendance)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5015E82B-44FA-6306-8B07-E902ABF66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72" y="169650"/>
            <a:ext cx="2266805" cy="1751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A9ABD6D8-D630-7C91-6C7C-0817ABBE8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988" y="3440189"/>
            <a:ext cx="7175532" cy="498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EC60FE7-6593-F2A8-22D6-A106E9A7F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988" y="2073692"/>
            <a:ext cx="4497742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Models Used: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Logistic Regression and Decision Tree Classifier.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Achieved high accuracy in predicting whether a user will attend based on their financial profile.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Metric Highlight: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Feature importance shows "Affordability Ratio" is the strongest predictor of conversion.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99FA1A-B39C-CD8B-2BC9-767FB45F15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1730" y="1920362"/>
            <a:ext cx="6728298" cy="403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92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812C0-EE9C-A6B4-6CF6-9AC4230C0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020479-A71A-5323-6394-C611E31E4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8102" y="879218"/>
            <a:ext cx="6275504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E91531F7-9FBC-84F0-9E80-1F2E637F1F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72" y="169650"/>
            <a:ext cx="2266805" cy="1751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D228F4A1-B386-ED3D-1A44-AB9214437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988" y="3440189"/>
            <a:ext cx="7175532" cy="498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26CE928-2638-F26F-28AF-CBEB8A3BD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412" y="4228608"/>
            <a:ext cx="11035176" cy="2345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Tiered Pricing: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Implement income-based tiers or regional pricing to optimize the affordability ratio.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Targeted Scheduling: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Schedule Seminars during standard business hours (targeting the 45+ demographic) and Concerts for weekends (targeting the &lt;30 demographic).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Discounts: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 the predictive model to offer targeted discounts to those on the "attendance fence."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4D3219-09C2-99B1-8F05-A835F2F38F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82" t="17505" r="4055" b="48273"/>
          <a:stretch>
            <a:fillRect/>
          </a:stretch>
        </p:blipFill>
        <p:spPr>
          <a:xfrm>
            <a:off x="551972" y="1881636"/>
            <a:ext cx="10554510" cy="2346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293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F7464-ACBD-BF8E-6663-204F40A6D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85FF0D-A80F-39C8-0E4B-CCA270FF08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826"/>
          <a:stretch>
            <a:fillRect/>
          </a:stretch>
        </p:blipFill>
        <p:spPr>
          <a:xfrm>
            <a:off x="2178996" y="1479382"/>
            <a:ext cx="8569390" cy="361750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580383A-BB19-2BF9-5C67-E998051A9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8102" y="879218"/>
            <a:ext cx="6275504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Next Steps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EEBD5C47-CDC6-22F0-4911-E43AAE911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72" y="169650"/>
            <a:ext cx="2266805" cy="1751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B5DD4BFA-7AC3-AF2B-46F0-147A3F408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988" y="3440189"/>
            <a:ext cx="7175532" cy="498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6A1ADE7-5254-30D4-8263-0F808056C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988" y="4586323"/>
            <a:ext cx="10755020" cy="1421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Moving from "one-size-fits-all" pricing to targeted, data-backed audience engagement.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Integrate real-time social media sentiment or geographic location data for more precise models.</a:t>
            </a:r>
          </a:p>
        </p:txBody>
      </p:sp>
    </p:spTree>
    <p:extLst>
      <p:ext uri="{BB962C8B-B14F-4D97-AF65-F5344CB8AC3E}">
        <p14:creationId xmlns:p14="http://schemas.microsoft.com/office/powerpoint/2010/main" val="2923890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520</Words>
  <Application>Microsoft Office PowerPoint</Application>
  <PresentationFormat>Widescreen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mahakalitarun@gmail.com</dc:creator>
  <cp:lastModifiedBy>mahakalitarun@gmail.com</cp:lastModifiedBy>
  <cp:revision>3</cp:revision>
  <dcterms:created xsi:type="dcterms:W3CDTF">2025-12-01T13:01:58Z</dcterms:created>
  <dcterms:modified xsi:type="dcterms:W3CDTF">2025-12-17T16:25:47Z</dcterms:modified>
</cp:coreProperties>
</file>